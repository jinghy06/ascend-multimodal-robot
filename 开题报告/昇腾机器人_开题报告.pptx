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b8987785a3b44f97" /><Relationship Type="http://schemas.openxmlformats.org/officeDocument/2006/relationships/extended-properties" Target="/docProps/app.xml" Id="R6bd98d7c32054139" /><Relationship Type="http://schemas.openxmlformats.org/officeDocument/2006/relationships/officeDocument" Target="/ppt/presentation.xml" Id="R970a1da947d5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2c908f3de4c67"/>
  </p:sldMasterIdLst>
  <p:notesMasterIdLst>
    <p:notesMasterId xmlns:r="http://schemas.openxmlformats.org/officeDocument/2006/relationships" r:id="Rb065f12499a64579"/>
  </p:notesMasterIdLst>
  <p:sldIdLst>
    <p:sldId xmlns:r="http://schemas.openxmlformats.org/officeDocument/2006/relationships" id="256" r:id="Rd1f61974af78424a"/>
    <p:sldId xmlns:r="http://schemas.openxmlformats.org/officeDocument/2006/relationships" id="257" r:id="R56e0998cf0d640e2"/>
    <p:sldId xmlns:r="http://schemas.openxmlformats.org/officeDocument/2006/relationships" id="258" r:id="R989ec90bdb4f40b5"/>
    <p:sldId xmlns:r="http://schemas.openxmlformats.org/officeDocument/2006/relationships" id="259" r:id="Rca59be951e4a4d2f"/>
    <p:sldId xmlns:r="http://schemas.openxmlformats.org/officeDocument/2006/relationships" id="260" r:id="R08f5f060d36e4802"/>
    <p:sldId xmlns:r="http://schemas.openxmlformats.org/officeDocument/2006/relationships" id="261" r:id="R1c39d5970f7e4af3"/>
    <p:sldId xmlns:r="http://schemas.openxmlformats.org/officeDocument/2006/relationships" id="262" r:id="R2dbcad2e918341dd"/>
    <p:sldId xmlns:r="http://schemas.openxmlformats.org/officeDocument/2006/relationships" id="263" r:id="R7ad7b58b68f149e5"/>
    <p:sldId xmlns:r="http://schemas.openxmlformats.org/officeDocument/2006/relationships" id="264" r:id="R7e145d7d169b4329"/>
    <p:sldId xmlns:r="http://schemas.openxmlformats.org/officeDocument/2006/relationships" id="265" r:id="Rabf1ba4b9ff94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d9288d8354774e9c" /><Relationship Type="http://schemas.openxmlformats.org/officeDocument/2006/relationships/slideMaster" Target="/ppt/slideMasters/slideMaster1.xml" Id="R8342c908f3de4c67" /><Relationship Type="http://schemas.openxmlformats.org/officeDocument/2006/relationships/notesMaster" Target="/ppt/notesMasters/notesMaster1.xml" Id="Rb065f12499a64579" /><Relationship Type="http://schemas.openxmlformats.org/officeDocument/2006/relationships/presProps" Target="/ppt/presProps.xml" Id="Ra143596e60664160" /><Relationship Type="http://schemas.openxmlformats.org/officeDocument/2006/relationships/tableStyles" Target="/ppt/tableStyles.xml" Id="R585802f33c854b07" /><Relationship Type="http://schemas.openxmlformats.org/officeDocument/2006/relationships/slide" Target="/ppt/slides/slide1.xml" Id="Rd1f61974af78424a" /><Relationship Type="http://schemas.openxmlformats.org/officeDocument/2006/relationships/slide" Target="/ppt/slides/slide2.xml" Id="R56e0998cf0d640e2" /><Relationship Type="http://schemas.openxmlformats.org/officeDocument/2006/relationships/slide" Target="/ppt/slides/slide3.xml" Id="R989ec90bdb4f40b5" /><Relationship Type="http://schemas.openxmlformats.org/officeDocument/2006/relationships/slide" Target="/ppt/slides/slide4.xml" Id="Rca59be951e4a4d2f" /><Relationship Type="http://schemas.openxmlformats.org/officeDocument/2006/relationships/slide" Target="/ppt/slides/slide5.xml" Id="R08f5f060d36e4802" /><Relationship Type="http://schemas.openxmlformats.org/officeDocument/2006/relationships/slide" Target="/ppt/slides/slide6.xml" Id="R1c39d5970f7e4af3" /><Relationship Type="http://schemas.openxmlformats.org/officeDocument/2006/relationships/slide" Target="/ppt/slides/slide7.xml" Id="R2dbcad2e918341dd" /><Relationship Type="http://schemas.openxmlformats.org/officeDocument/2006/relationships/slide" Target="/ppt/slides/slide8.xml" Id="R7ad7b58b68f149e5" /><Relationship Type="http://schemas.openxmlformats.org/officeDocument/2006/relationships/slide" Target="/ppt/slides/slide9.xml" Id="R7e145d7d169b4329" /><Relationship Type="http://schemas.openxmlformats.org/officeDocument/2006/relationships/slide" Target="/ppt/slides/slide10.xml" Id="Rabf1ba4b9ff94e51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8a01fecd946a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70227e9fe6624463" /><Relationship Type="http://schemas.openxmlformats.org/officeDocument/2006/relationships/notesMaster" Target="/ppt/notesMasters/notesMaster1.xml" Id="Rd5200d499cf5497c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6b5edd55bdfa4f56" /><Relationship Type="http://schemas.openxmlformats.org/officeDocument/2006/relationships/notesMaster" Target="/ppt/notesMasters/notesMaster1.xml" Id="Rb9f1f5c095ea4a1f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81dfc6bb1a194d8a" /><Relationship Type="http://schemas.openxmlformats.org/officeDocument/2006/relationships/notesMaster" Target="/ppt/notesMasters/notesMaster1.xml" Id="Re355bc96c2f04601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d80b0b36ddac4aaf" /><Relationship Type="http://schemas.openxmlformats.org/officeDocument/2006/relationships/notesMaster" Target="/ppt/notesMasters/notesMaster1.xml" Id="R2ed8f18bb43d46ad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c0b88042f6c24c08" /><Relationship Type="http://schemas.openxmlformats.org/officeDocument/2006/relationships/notesMaster" Target="/ppt/notesMasters/notesMaster1.xml" Id="Rb7a42d6b0c6f4104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fe5294909ad5462c" /><Relationship Type="http://schemas.openxmlformats.org/officeDocument/2006/relationships/notesMaster" Target="/ppt/notesMasters/notesMaster1.xml" Id="Rc671e674ae3c49ff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43e9d9e117a04353" /><Relationship Type="http://schemas.openxmlformats.org/officeDocument/2006/relationships/notesMaster" Target="/ppt/notesMasters/notesMaster1.xml" Id="R8443d835b2d949bf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ad7389a9edda4989" /><Relationship Type="http://schemas.openxmlformats.org/officeDocument/2006/relationships/notesMaster" Target="/ppt/notesMasters/notesMaster1.xml" Id="Refbb7e5a2007415b" 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/ppt/slides/slide9.xml" Id="R9e109e0eb5734823" /><Relationship Type="http://schemas.openxmlformats.org/officeDocument/2006/relationships/notesMaster" Target="/ppt/notesMasters/notesMaster1.xml" Id="R583d0dea4dbf4e42" 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/ppt/slides/slide10.xml" Id="Rdfbd51291c75447a" /><Relationship Type="http://schemas.openxmlformats.org/officeDocument/2006/relationships/notesMaster" Target="/ppt/notesMasters/notesMaster1.xml" Id="R837410dcdc2d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各位老师、同学好，我们的题目是《基于昇腾平台的多模态交互自主跟随与物品抓取机器人设计》。项目采用华为 Atlas 200I DK A2，面向室内场景，实现听懂指令、自主跟随和轻质物品抓取。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用户更正：主控平台为 Huawei Atlas 200I DK A2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室内辅助任务中，机器人既要理解人的意图，也要完成移动和操作。我们选择语音和激光笔作为交互入口，用视觉感知目标，用雷达辅助导航避障。项目以跟随、指点导航和语音抓取三个场景为主，探索昇腾平台上的机器人系统集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任务分为自主跟随、激光指引、语音控制和物品抓取。表中均为拟定验收目标，例如跟随距离设为一点五米，误差控制在正负零点三米内，抓取成功率目标为百分之七十。我们限定在室内、静态障碍和轻质小物体条件下测试，避免把功能目标当成已有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系统采用上下位机架构。摄像头、雷达和麦克风向 Atlas 提供环境与指令信息。上位机运行 ROS 2，CPU 负责语音、建图、导航和任务调度，昇腾 NPU 优先承担视觉推理，并探索抓取策略部署。任务管理器统一分配导航与抓取任务。ESP32-S3 执行底盘闭环控制，机械臂通过独立总线控制。急停和超时停车在底层实现。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软硬件划分为四个模块。视觉模块识别人、光斑和物体，语音模块将话语转成结构化任务，抓取模块负责目标定位和机械臂动作，底盘模块负责建图、导航与运动控制。模块通过 ROS 2 接口连接。跟随、激光指引和语音导航都进入同一个任务管理器，防止多路指令同时控制底盘。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难点有三个。第一，视觉检测和雷达测距需要时间同步与坐标标定，遮挡后还要防止跟错人。第二，激光笔导航先限定在地面，用相机标定求取光斑位置，再检查目标是否可通行。第三，抓取同时受定位误差和模型部署限制。我们先完成视觉定位加预置动作的基线，再尝试 SmolVLA 微调，若板端适配受阻则评估 ACT 或保留基线，并分别记录结果。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经形成整体方案、模块接口和硬件选型。语音模块已有唤醒、流式识别、规则解析和语言模型兜底的代码框架。本次在电脑端运行了规则、路由和语言模型解析相关测试，共二十五项通过。这说明部分软件逻辑已有基础，但板端实时性、真实语音识别率以及整机抓取效果仍需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按照课程要求，我们将实施阶段安排在第六到第十四周。第六周完成 Atlas 环境与底盘通信，第七周实现建图和定点导航，第八周完成跟随，第九周加入激光指引。第十周贯通语音控制，第十一周完成抓取基线并采集示教数据，第十二周验证学习策略与板端性能。第十三周整机联调，第十四周按统一条件验收并提交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两名成员并行推进。成员 A 负责语音交互、指令解析和抓取策略，成员 B 负责视觉感知、底盘、建图导航与跟随。机械臂安装、供电安全和整机验收共同完成。协作时先冻结消息格式和坐标系，再用模拟消息独立联调，每周以可演示功能作为检查点。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最终计划交付一台可演示的机器人样机、ROS 2 软件与配置、测试记录和设计报告。重点展示自主跟随、地面激光指引和语音抓取，并通过成功率、误差与延迟说明系统效果。以上是我们的开题方案，请老师和同学批评指正。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本地：项目计划书.md、项目计划书_独显版.md、项目计划书_核显版.md</a:t>
            </a:r>
          </a:p>
          <a:p xmlns:a="http://schemas.openxmlformats.org/drawingml/2006/main">
            <a:r>
              <a:t>本地：voice_control/README.md、configs/commands.yaml、tests/</a:t>
            </a:r>
          </a:p>
          <a:p xmlns:a="http://schemas.openxmlformats.org/drawingml/2006/main">
            <a:r>
              <a:t>用户更正：主控平台为 Huawei Atlas 200I DK A2</a:t>
            </a:r>
          </a:p>
          <a:p xmlns:a="http://schemas.openxmlformats.org/drawingml/2006/main">
            <a:r>
              <a:t>课程截图：开题汇报不超过 5 分钟，实施进度按第 6—14 周逐周安排</a:t>
            </a:r>
          </a:p>
          <a:p xmlns:a="http://schemas.openxmlformats.org/drawingml/2006/main">
            <a:r>
              <a:t>华为官方 Atlas 开发者套件模型转换说明：https://www.hiascend.com/document/detail/zh/Atlas200IDKA2DeveloperKit/23.0.RC2/Application%20Development%20Guide/tmuacop/tmuacop_0016.html</a:t>
            </a:r>
          </a:p>
          <a:p xmlns:a="http://schemas.openxmlformats.org/drawingml/2006/main">
            <a:r>
              <a:t>LeRobot 官方 SmolVLA 文档：https://github.com/huggingface/lerobot/blob/main/docs/source/smolvla.mdx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e99b3c6ac3ef40b0" 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24c23d76d04e4519" 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52821776c454fbb" 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e8c2b3290d64f95" 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8a12dc7ea3f24c53" 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547d1977f70346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F2B105-3F49-409B-BBD8-44A59AD28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789D92-4CCA-4277-89B2-61642EAF70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326005-89BB-4A93-8919-0F8BD29CC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F73BA5-0C4F-4EE8-AFF2-35B7D608B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8362F8-DF79-473C-AAB7-61DC6B885F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48282A-17B4-4E73-AE13-E24C9437B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3FCBDA-DEA0-4D19-8A59-95275C7F6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95CE0F-7DAA-48F5-975C-1F18FFC7BD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28D8FF-C152-42A3-BF71-5C85DA636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EC722F-2054-4073-9E9E-498971F87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87b27b2659f3463a" /><Relationship Type="http://schemas.openxmlformats.org/officeDocument/2006/relationships/slideLayout" Target="/ppt/slideLayouts/slideLayout1.xml" Id="R49b4498f1ab94382" /><Relationship Type="http://schemas.openxmlformats.org/officeDocument/2006/relationships/slideLayout" Target="/ppt/slideLayouts/slideLayout2.xml" Id="R3831f883938a4695" /><Relationship Type="http://schemas.openxmlformats.org/officeDocument/2006/relationships/slideLayout" Target="/ppt/slideLayouts/slideLayout3.xml" Id="R02330d7b755a471d" /><Relationship Type="http://schemas.openxmlformats.org/officeDocument/2006/relationships/slideLayout" Target="/ppt/slideLayouts/slideLayout4.xml" Id="R1158633424314886" /><Relationship Type="http://schemas.openxmlformats.org/officeDocument/2006/relationships/slideLayout" Target="/ppt/slideLayouts/slideLayout5.xml" Id="Rf4ca00589fc34d8e" /><Relationship Type="http://schemas.openxmlformats.org/officeDocument/2006/relationships/slideLayout" Target="/ppt/slideLayouts/slideLayout6.xml" Id="R0ee17ca5fd8d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4498f1ab94382"/>
    <p:sldLayoutId xmlns:r="http://schemas.openxmlformats.org/officeDocument/2006/relationships" id="2147483650" r:id="R3831f883938a4695"/>
    <p:sldLayoutId xmlns:r="http://schemas.openxmlformats.org/officeDocument/2006/relationships" id="2147483651" r:id="R02330d7b755a471d"/>
    <p:sldLayoutId xmlns:r="http://schemas.openxmlformats.org/officeDocument/2006/relationships" id="2147483652" r:id="R1158633424314886"/>
    <p:sldLayoutId xmlns:r="http://schemas.openxmlformats.org/officeDocument/2006/relationships" id="2147483653" r:id="Rf4ca00589fc34d8e"/>
    <p:sldLayoutId xmlns:r="http://schemas.openxmlformats.org/officeDocument/2006/relationships" id="2147483654" r:id="R0ee17ca5fd8d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d502d3e53390481a" /><Relationship Type="http://schemas.openxmlformats.org/officeDocument/2006/relationships/notesSlide" Target="/ppt/notesSlides/notesSlide1.xml" Id="R24b045ad519c4dab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06fa29853e074c89" /><Relationship Type="http://schemas.openxmlformats.org/officeDocument/2006/relationships/notesSlide" Target="/ppt/notesSlides/notesSlide2.xml" Id="R6b8072f7cf81439e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e4c827d6523142f1" /><Relationship Type="http://schemas.openxmlformats.org/officeDocument/2006/relationships/notesSlide" Target="/ppt/notesSlides/notesSlide3.xml" Id="R7bf0cd66bcdf42a5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973baa1c428d4ec4" /><Relationship Type="http://schemas.openxmlformats.org/officeDocument/2006/relationships/notesSlide" Target="/ppt/notesSlides/notesSlide4.xml" Id="Re312c0d8cb6e49b1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a224d8f738254ff1" /><Relationship Type="http://schemas.openxmlformats.org/officeDocument/2006/relationships/notesSlide" Target="/ppt/notesSlides/notesSlide5.xml" Id="R680c99627cbf420d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248f4543d62541ef" /><Relationship Type="http://schemas.openxmlformats.org/officeDocument/2006/relationships/notesSlide" Target="/ppt/notesSlides/notesSlide6.xml" Id="R38b3136215954963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6219e2e024f84d0c" /><Relationship Type="http://schemas.openxmlformats.org/officeDocument/2006/relationships/notesSlide" Target="/ppt/notesSlides/notesSlide7.xml" Id="Rc58ceedcbcad44a0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5efe9033a4674f4f" /><Relationship Type="http://schemas.openxmlformats.org/officeDocument/2006/relationships/notesSlide" Target="/ppt/notesSlides/notesSlide8.xml" Id="R00ac747d682c4847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e75952fcae894486" /><Relationship Type="http://schemas.openxmlformats.org/officeDocument/2006/relationships/notesSlide" Target="/ppt/notesSlides/notesSlide9.xml" Id="Rc07449a83b6540eb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6.xml" Id="R887fa9e559364d9c" /><Relationship Type="http://schemas.openxmlformats.org/officeDocument/2006/relationships/notesSlide" Target="/ppt/notesSlides/notesSlide10.xml" Id="R90af4721666047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电子系统设计  /  开题报告">
            <a:extLst xmlns:a="http://schemas.openxmlformats.org/drawingml/2006/main">
              <a:ext uri="{FF2B5EF4-FFF2-40B4-BE49-F238E27FC236}">
                <a16:creationId xmlns:a16="http://schemas.microsoft.com/office/drawing/2014/main" id="{769E1590-22AF-4FD0-A6CD-2700ADB9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电子系统设计  /  开题报告</a:t>
            </a:r>
          </a:p>
        </p:txBody>
      </p:sp>
      <p:sp>
        <p:nvSpPr>
          <p:cNvPr id="2" name="基于昇腾平台的">
            <a:extLst xmlns:a="http://schemas.openxmlformats.org/drawingml/2006/main">
              <a:ext uri="{FF2B5EF4-FFF2-40B4-BE49-F238E27FC236}">
                <a16:creationId xmlns:a16="http://schemas.microsoft.com/office/drawing/2014/main" id="{8A1EAC1F-6ABC-47EC-90FF-5A8C76B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基于昇腾平台的</a:t>
            </a:r>
          </a:p>
        </p:txBody>
      </p:sp>
      <p:sp>
        <p:nvSpPr>
          <p:cNvPr id="3" name="多模态交互自主跟随与">
            <a:extLst xmlns:a="http://schemas.openxmlformats.org/drawingml/2006/main">
              <a:ext uri="{FF2B5EF4-FFF2-40B4-BE49-F238E27FC236}">
                <a16:creationId xmlns:a16="http://schemas.microsoft.com/office/drawing/2014/main" id="{3B4F9190-1DD2-4295-A5C1-E3B6A0E0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多模态交互自主跟随与</a:t>
            </a:r>
          </a:p>
        </p:txBody>
      </p:sp>
      <p:sp>
        <p:nvSpPr>
          <p:cNvPr id="4" name="物品抓取机器人设计">
            <a:extLst xmlns:a="http://schemas.openxmlformats.org/drawingml/2006/main">
              <a:ext uri="{FF2B5EF4-FFF2-40B4-BE49-F238E27FC236}">
                <a16:creationId xmlns:a16="http://schemas.microsoft.com/office/drawing/2014/main" id="{75AF4781-5695-4018-BE33-20AC3FB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物品抓取机器人设计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01B98-8CA8-4F8D-AD17-CE57AC19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6" name="Huawei Atlas 200I DK A2">
            <a:extLst xmlns:a="http://schemas.openxmlformats.org/drawingml/2006/main">
              <a:ext uri="{FF2B5EF4-FFF2-40B4-BE49-F238E27FC236}">
                <a16:creationId xmlns:a16="http://schemas.microsoft.com/office/drawing/2014/main" id="{05BF8586-4694-4D11-8EB9-CE20DBAF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Huawei Atlas 200I DK A2</a:t>
            </a:r>
          </a:p>
        </p:txBody>
      </p:sp>
      <p:sp>
        <p:nvSpPr>
          <p:cNvPr id="7" name="ROS 2 移动操作机器人">
            <a:extLst xmlns:a="http://schemas.openxmlformats.org/drawingml/2006/main">
              <a:ext uri="{FF2B5EF4-FFF2-40B4-BE49-F238E27FC236}">
                <a16:creationId xmlns:a16="http://schemas.microsoft.com/office/drawing/2014/main" id="{D62144DD-E372-4918-98DA-C6D01229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ROS 2 移动操作机器人</a:t>
            </a:r>
          </a:p>
        </p:txBody>
      </p:sp>
      <p:sp>
        <p:nvSpPr>
          <p:cNvPr id="8" name="室内辅助场景">
            <a:extLst xmlns:a="http://schemas.openxmlformats.org/drawingml/2006/main">
              <a:ext uri="{FF2B5EF4-FFF2-40B4-BE49-F238E27FC236}">
                <a16:creationId xmlns:a16="http://schemas.microsoft.com/office/drawing/2014/main" id="{0FCB799E-869A-4CF9-90B5-C164E656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室内辅助场景</a:t>
            </a:r>
          </a:p>
        </p:txBody>
      </p:sp>
    </p:spTree>
    <p:extLst>
      <p:ext uri="{BB962C8B-B14F-4D97-AF65-F5344CB8AC3E}">
        <p14:creationId xmlns:p14="http://schemas.microsoft.com/office/powerpoint/2010/main" val="417879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课题背景与应用价值">
            <a:extLst xmlns:a="http://schemas.openxmlformats.org/drawingml/2006/main">
              <a:ext uri="{FF2B5EF4-FFF2-40B4-BE49-F238E27FC236}">
                <a16:creationId xmlns:a16="http://schemas.microsoft.com/office/drawing/2014/main" id="{F0CD9D75-FF88-4B46-84E2-E6D214F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课题背景与应用价值</a:t>
            </a:r>
          </a:p>
        </p:txBody>
      </p:sp>
      <p:sp>
        <p:nvSpPr>
          <p:cNvPr id="2" name="面向室内轻质物品辅助任务，连接人的指令与机器人的动作">
            <a:extLst xmlns:a="http://schemas.openxmlformats.org/drawingml/2006/main">
              <a:ext uri="{FF2B5EF4-FFF2-40B4-BE49-F238E27FC236}">
                <a16:creationId xmlns:a16="http://schemas.microsoft.com/office/drawing/2014/main" id="{867DA3E7-C50E-4759-AB69-E3A58D0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面向室内轻质物品辅助任务，连接人的指令与机器人的动作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C4F2A-E44A-46F8-8400-EC0AF9E2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B4768-9B67-4B4D-9810-F3FCC08C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BB7B713A-447A-4E5B-98E1-878B500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69E80BAD-90D9-4904-9340-FEFAA93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AA39576-8D66-47D7-BA08-1680616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自主跟随">
            <a:extLst xmlns:a="http://schemas.openxmlformats.org/drawingml/2006/main">
              <a:ext uri="{FF2B5EF4-FFF2-40B4-BE49-F238E27FC236}">
                <a16:creationId xmlns:a16="http://schemas.microsoft.com/office/drawing/2014/main" id="{8C99F1A5-EEC4-496E-BADF-073770C4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自主跟随</a:t>
            </a:r>
          </a:p>
        </p:txBody>
      </p:sp>
      <p:sp>
        <p:nvSpPr>
          <p:cNvPr id="9" name="“跟着我”">
            <a:extLst xmlns:a="http://schemas.openxmlformats.org/drawingml/2006/main">
              <a:ext uri="{FF2B5EF4-FFF2-40B4-BE49-F238E27FC236}">
                <a16:creationId xmlns:a16="http://schemas.microsoft.com/office/drawing/2014/main" id="{D72C1706-090C-4A5A-88F2-E1A9C6A4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8120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“跟着我”</a:t>
            </a:r>
          </a:p>
        </p:txBody>
      </p:sp>
      <p:sp>
        <p:nvSpPr>
          <p:cNvPr id="10" name="保持距离移动，遇障碍减速或绕行">
            <a:extLst xmlns:a="http://schemas.openxmlformats.org/drawingml/2006/main">
              <a:ext uri="{FF2B5EF4-FFF2-40B4-BE49-F238E27FC236}">
                <a16:creationId xmlns:a16="http://schemas.microsoft.com/office/drawing/2014/main" id="{4B2D7130-FA27-45F1-86DE-0EE2671B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9555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保持距离移动，遇障碍减速或绕行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1F331-205A-497B-82B5-8EDEEBB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3ECA6128-2814-4165-88BC-3A01FAE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激光指引">
            <a:extLst xmlns:a="http://schemas.openxmlformats.org/drawingml/2006/main">
              <a:ext uri="{FF2B5EF4-FFF2-40B4-BE49-F238E27FC236}">
                <a16:creationId xmlns:a16="http://schemas.microsoft.com/office/drawing/2014/main" id="{712A5CB1-FA77-4C48-8707-7E92E48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71825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激光指引</a:t>
            </a:r>
          </a:p>
        </p:txBody>
      </p:sp>
      <p:sp>
        <p:nvSpPr>
          <p:cNvPr id="14" name="“去这里”">
            <a:extLst xmlns:a="http://schemas.openxmlformats.org/drawingml/2006/main">
              <a:ext uri="{FF2B5EF4-FFF2-40B4-BE49-F238E27FC236}">
                <a16:creationId xmlns:a16="http://schemas.microsoft.com/office/drawing/2014/main" id="{1D675962-81A8-4339-BE10-5BAB4E6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“去这里”</a:t>
            </a:r>
          </a:p>
        </p:txBody>
      </p:sp>
      <p:sp>
        <p:nvSpPr>
          <p:cNvPr id="15" name="识别地面光斑，生成可通行目标点">
            <a:extLst xmlns:a="http://schemas.openxmlformats.org/drawingml/2006/main">
              <a:ext uri="{FF2B5EF4-FFF2-40B4-BE49-F238E27FC236}">
                <a16:creationId xmlns:a16="http://schemas.microsoft.com/office/drawing/2014/main" id="{12B21B9D-51EE-4157-98CE-96B5F15F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861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识别地面光斑，生成可通行目标点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1A509-956B-4132-A651-CEF9431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719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96834AF6-81DC-42AB-B057-BC6CDEE4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语音抓取">
            <a:extLst xmlns:a="http://schemas.openxmlformats.org/drawingml/2006/main">
              <a:ext uri="{FF2B5EF4-FFF2-40B4-BE49-F238E27FC236}">
                <a16:creationId xmlns:a16="http://schemas.microsoft.com/office/drawing/2014/main" id="{1B3A7ED0-885F-4B76-B4EB-FDC8283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语音抓取</a:t>
            </a:r>
          </a:p>
        </p:txBody>
      </p:sp>
      <p:sp>
        <p:nvSpPr>
          <p:cNvPr id="19" name="“抓起红色杯子”">
            <a:extLst xmlns:a="http://schemas.openxmlformats.org/drawingml/2006/main">
              <a:ext uri="{FF2B5EF4-FFF2-40B4-BE49-F238E27FC236}">
                <a16:creationId xmlns:a16="http://schemas.microsoft.com/office/drawing/2014/main" id="{472158DA-1F4C-49B1-9DEE-9D99A48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62450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“抓起红色杯子”</a:t>
            </a:r>
          </a:p>
        </p:txBody>
      </p:sp>
      <p:sp>
        <p:nvSpPr>
          <p:cNvPr id="20" name="识别目标物品，执行机械臂抓取">
            <a:extLst xmlns:a="http://schemas.openxmlformats.org/drawingml/2006/main">
              <a:ext uri="{FF2B5EF4-FFF2-40B4-BE49-F238E27FC236}">
                <a16:creationId xmlns:a16="http://schemas.microsoft.com/office/drawing/2014/main" id="{B70B449F-13C3-4F62-8533-0423A5B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768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识别目标物品，执行机械臂抓取</a:t>
            </a:r>
          </a:p>
        </p:txBody>
      </p:sp>
      <p:sp>
        <p:nvSpPr>
          <p:cNvPr id="21" name="应用价值：降低交互门槛，验证国产边缘推理平台上的感知与控制协同">
            <a:extLst xmlns:a="http://schemas.openxmlformats.org/drawingml/2006/main">
              <a:ext uri="{FF2B5EF4-FFF2-40B4-BE49-F238E27FC236}">
                <a16:creationId xmlns:a16="http://schemas.microsoft.com/office/drawing/2014/main" id="{0629D8FB-C771-4ACB-8B18-2719967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应用价值：降低交互门槛，验证国产边缘推理平台上的感知与控制协同</a:t>
            </a:r>
          </a:p>
        </p:txBody>
      </p:sp>
    </p:spTree>
    <p:extLst>
      <p:ext uri="{BB962C8B-B14F-4D97-AF65-F5344CB8AC3E}">
        <p14:creationId xmlns:p14="http://schemas.microsoft.com/office/powerpoint/2010/main" val="1597342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设计任务与验收要求">
            <a:extLst xmlns:a="http://schemas.openxmlformats.org/drawingml/2006/main">
              <a:ext uri="{FF2B5EF4-FFF2-40B4-BE49-F238E27FC236}">
                <a16:creationId xmlns:a16="http://schemas.microsoft.com/office/drawing/2014/main" id="{BC1C786E-202E-4994-BA00-9AE0E2EA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设计任务与验收要求</a:t>
            </a:r>
          </a:p>
        </p:txBody>
      </p:sp>
      <p:sp>
        <p:nvSpPr>
          <p:cNvPr id="2" name="下列数值为拟定目标，均需在规定条件下实测">
            <a:extLst xmlns:a="http://schemas.openxmlformats.org/drawingml/2006/main">
              <a:ext uri="{FF2B5EF4-FFF2-40B4-BE49-F238E27FC236}">
                <a16:creationId xmlns:a16="http://schemas.microsoft.com/office/drawing/2014/main" id="{330FB8BA-063B-4BEE-AC2D-B5BB0D11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下列数值为拟定目标，均需在规定条件下实测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B3761-85FE-4E82-B368-A32842E3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BE0DF-413C-4C74-8943-2B2575B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65CC8512-30AB-4126-9532-6A656E0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382566EE-8857-4EB8-9200-E96EC96D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06999-1584-4610-9517-2261ABD65C13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476625"/>
                <a:gridCol w="5495925"/>
              </a:tblGrid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目标指标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验收条件与方法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自主导航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到达率、避障通过率 ≥90%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静态障碍室内，各测试 10 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人体跟随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距离误差 ≤±0.3 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设定 1.5 m，直行与转弯 2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激光指引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定位误差 ≤0.2 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m 内地面光斑，测试 10 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语音控制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指令识别率 ≥90%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安静室内，1 m，20 条预定义指令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物品抓取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 ≥70%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轻质小物体、固定作业平面，10 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范围约束：室内低速运行，抓取纸杯、海绵块等轻物，急停优先">
            <a:extLst xmlns:a="http://schemas.openxmlformats.org/drawingml/2006/main">
              <a:ext uri="{FF2B5EF4-FFF2-40B4-BE49-F238E27FC236}">
                <a16:creationId xmlns:a16="http://schemas.microsoft.com/office/drawing/2014/main" id="{844F50ED-F5F8-499A-9706-ED3C543C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范围约束：室内低速运行，抓取纸杯、海绵块等轻物，急停优先</a:t>
            </a:r>
          </a:p>
        </p:txBody>
      </p:sp>
    </p:spTree>
    <p:extLst>
      <p:ext uri="{BB962C8B-B14F-4D97-AF65-F5344CB8AC3E}">
        <p14:creationId xmlns:p14="http://schemas.microsoft.com/office/powerpoint/2010/main" val="1114412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系统总体架构">
            <a:extLst xmlns:a="http://schemas.openxmlformats.org/drawingml/2006/main">
              <a:ext uri="{FF2B5EF4-FFF2-40B4-BE49-F238E27FC236}">
                <a16:creationId xmlns:a16="http://schemas.microsoft.com/office/drawing/2014/main" id="{BD8428A5-B29D-4F6E-A591-64FA273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2" name="上位机承担感知与规划，下位机执行实时控制">
            <a:extLst xmlns:a="http://schemas.openxmlformats.org/drawingml/2006/main">
              <a:ext uri="{FF2B5EF4-FFF2-40B4-BE49-F238E27FC236}">
                <a16:creationId xmlns:a16="http://schemas.microsoft.com/office/drawing/2014/main" id="{C9EFBAD2-C9D5-44E5-8924-C2B6BE9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上位机承担感知与规划，下位机执行实时控制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083DD-9462-4744-BDB1-79306B3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F4067-371D-4A1B-AFF8-EE945BE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82730D0E-337D-4806-A26C-C48890C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2A584C2F-CE07-4D9D-95A2-011BC8F3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感知输入">
            <a:extLst xmlns:a="http://schemas.openxmlformats.org/drawingml/2006/main">
              <a:ext uri="{FF2B5EF4-FFF2-40B4-BE49-F238E27FC236}">
                <a16:creationId xmlns:a16="http://schemas.microsoft.com/office/drawing/2014/main" id="{B5551D23-C42A-4716-9094-B2C7708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感知输入</a:t>
            </a:r>
          </a:p>
        </p:txBody>
      </p:sp>
      <p:sp>
        <p:nvSpPr>
          <p:cNvPr id="8" name="Atlas 200I DK A2">
            <a:extLst xmlns:a="http://schemas.openxmlformats.org/drawingml/2006/main">
              <a:ext uri="{FF2B5EF4-FFF2-40B4-BE49-F238E27FC236}">
                <a16:creationId xmlns:a16="http://schemas.microsoft.com/office/drawing/2014/main" id="{98199538-27CA-40CC-A3FB-B124E0D1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71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Atlas 200I DK A2</a:t>
            </a:r>
          </a:p>
        </p:txBody>
      </p:sp>
      <p:sp>
        <p:nvSpPr>
          <p:cNvPr id="9" name="执行与反馈">
            <a:extLst xmlns:a="http://schemas.openxmlformats.org/drawingml/2006/main">
              <a:ext uri="{FF2B5EF4-FFF2-40B4-BE49-F238E27FC236}">
                <a16:creationId xmlns:a16="http://schemas.microsoft.com/office/drawing/2014/main" id="{45201E63-2353-4BCA-B7C7-260B535F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71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执行与反馈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6679F-D8E0-42D0-A163-F6F15B6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USB 摄像头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BE731-2264-4390-B500-1AC5BB5A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二维激光雷达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E09C9-7ACE-4E96-B982-E81D1A6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USB 麦克风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776C2-190C-450C-913D-35E949E7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76475"/>
            <a:ext cx="5286375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CDD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85B14-780B-4198-A3D3-9B38EDF8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46767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视觉推理 / 抓取策略适配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34699-75E6-4A33-A420-8ECEBBE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86175"/>
            <a:ext cx="46767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CPU / ROS 2</a:t>
            </a:r>
          </a:p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语音、SLAM、Nav2、任务管理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80CDF-A2DF-49AF-AE39-CC5B6B52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57450"/>
            <a:ext cx="2295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SO-101 机械臂</a:t>
            </a:r>
          </a:p>
          <a:p xmlns:a="http://schemas.openxmlformats.org/drawingml/2006/main">
            <a:pPr algn="ctr">
              <a:def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独立串口总线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D4CA9-3B9F-46B2-A8D0-A899609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67150"/>
            <a:ext cx="2295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ESP32-S3</a:t>
            </a:r>
          </a:p>
          <a:p xmlns:a="http://schemas.openxmlformats.org/drawingml/2006/main">
            <a: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电机 PID / 编码器 / IMU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11E6A-F652-40C4-98B1-88928C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86050"/>
            <a:ext cx="4286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378AA-36AB-4046-92A8-44C214A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38550"/>
            <a:ext cx="4286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339A8-43A7-40D0-AAA4-78F6DDE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91050"/>
            <a:ext cx="4286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C54C4-0DD5-4EBE-9591-BE3DD55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0425"/>
            <a:ext cx="180975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453CD-0261-4221-A8DB-115B3E3C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4286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757EA-14B8-43F4-9B24-AFF07DF9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428625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CE"/>
          </a:solidFill>
          <a:ln xmlns:a="http://schemas.openxmlformats.org/drawingml/2006/main" w="0">
            <a:noFill/>
          </a:ln>
        </p:spPr>
      </p:sp>
      <p:sp>
        <p:nvSpPr>
          <p:cNvPr id="24" name="底盘里程计 / IMU 回传上位机">
            <a:extLst xmlns:a="http://schemas.openxmlformats.org/drawingml/2006/main">
              <a:ext uri="{FF2B5EF4-FFF2-40B4-BE49-F238E27FC236}">
                <a16:creationId xmlns:a16="http://schemas.microsoft.com/office/drawing/2014/main" id="{604E9D77-4015-44CC-B233-B1556359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49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底盘里程计 / IMU 回传上位机</a:t>
            </a:r>
          </a:p>
        </p:txBody>
      </p:sp>
      <p:sp>
        <p:nvSpPr>
          <p:cNvPr id="25" name="供电与安全：电源分路稳压、硬件急停、通信超时停车">
            <a:extLst xmlns:a="http://schemas.openxmlformats.org/drawingml/2006/main">
              <a:ext uri="{FF2B5EF4-FFF2-40B4-BE49-F238E27FC236}">
                <a16:creationId xmlns:a16="http://schemas.microsoft.com/office/drawing/2014/main" id="{4B48503E-6FE9-4913-9853-AFDA65BA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供电与安全：电源分路稳压、硬件急停、通信超时停车</a:t>
            </a:r>
          </a:p>
        </p:txBody>
      </p:sp>
    </p:spTree>
    <p:extLst>
      <p:ext uri="{BB962C8B-B14F-4D97-AF65-F5344CB8AC3E}">
        <p14:creationId xmlns:p14="http://schemas.microsoft.com/office/powerpoint/2010/main" val="589810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软硬件功能划分">
            <a:extLst xmlns:a="http://schemas.openxmlformats.org/drawingml/2006/main">
              <a:ext uri="{FF2B5EF4-FFF2-40B4-BE49-F238E27FC236}">
                <a16:creationId xmlns:a16="http://schemas.microsoft.com/office/drawing/2014/main" id="{4B9E528F-BD21-4CC5-8A54-294D580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软硬件功能划分</a:t>
            </a:r>
          </a:p>
        </p:txBody>
      </p:sp>
      <p:sp>
        <p:nvSpPr>
          <p:cNvPr id="2" name="模块独立开发，通过 ROS 2 消息与任务接口集成">
            <a:extLst xmlns:a="http://schemas.openxmlformats.org/drawingml/2006/main">
              <a:ext uri="{FF2B5EF4-FFF2-40B4-BE49-F238E27FC236}">
                <a16:creationId xmlns:a16="http://schemas.microsoft.com/office/drawing/2014/main" id="{9BE0FCFD-1C16-4DB2-BEC4-0F11B9CE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模块独立开发，通过 ROS 2 消息与任务接口集成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FC0A8-BD0C-4A03-A747-289B88EC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76F3E-2F70-4EF4-A663-DF3324C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EBF9B5BF-FD93-4B0F-BE29-34A5C58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334734A1-DB96-46E1-8FFE-FA8FCD9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6F7A4-AFEC-4ABA-A51F-E84C6FB4E827}"/>
              </a:ext>
            </a:extLst>
          </p:cNvPr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2619375"/>
                <a:gridCol w="4200525"/>
                <a:gridCol w="2295525"/>
              </a:tblGrid>
              <a:tr h="6953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硬件关联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</a:tr>
              <a:tr h="6953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视觉感知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摄像头 / 昇腾 NPU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人体与物体检测、光斑识别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目标位置与类别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语音交互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麦克风 / Atlas CPU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唤醒、流式识别、规则解析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结构化任务指令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6953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物品抓取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SO-101 / Atlas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位姿转换、策略推理、臂控制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关节动作与状态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M4 导航运动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雷达 / ESP32 / 底盘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SLAM、Nav2、跟随、PID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路径与底盘速度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8" name="任务管理器统一仲裁跟随、指点导航和抓取，避免控制指令冲突">
            <a:extLst xmlns:a="http://schemas.openxmlformats.org/drawingml/2006/main">
              <a:ext uri="{FF2B5EF4-FFF2-40B4-BE49-F238E27FC236}">
                <a16:creationId xmlns:a16="http://schemas.microsoft.com/office/drawing/2014/main" id="{A5A68BF9-44D4-4206-8E11-E9C360C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任务管理器统一仲裁跟随、指点导航和抓取，避免控制指令冲突</a:t>
            </a:r>
          </a:p>
        </p:txBody>
      </p:sp>
    </p:spTree>
    <p:extLst>
      <p:ext uri="{BB962C8B-B14F-4D97-AF65-F5344CB8AC3E}">
        <p14:creationId xmlns:p14="http://schemas.microsoft.com/office/powerpoint/2010/main" val="235631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92BF8-A3E9-4A6C-A52E-2F54F0BC140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581650" y="554831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CE"/>
            </a:solidFill>
            <a:tailEnd type="triangle" w="sm" len="sm"/>
          </a:ln>
        </p:spPr>
      </p:cxnSp>
      <p:sp>
        <p:nvSpPr>
          <p:cNvPr id="25" name="关键技术与难点">
            <a:extLst xmlns:a="http://schemas.openxmlformats.org/drawingml/2006/main">
              <a:ext uri="{FF2B5EF4-FFF2-40B4-BE49-F238E27FC236}">
                <a16:creationId xmlns:a16="http://schemas.microsoft.com/office/drawing/2014/main" id="{DD1738FE-22F1-442C-9264-23171FC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关键技术与难点</a:t>
            </a:r>
          </a:p>
        </p:txBody>
      </p:sp>
      <p:sp>
        <p:nvSpPr>
          <p:cNvPr id="2" name="先实现可验收基线，再验证学习策略和板端部署">
            <a:extLst xmlns:a="http://schemas.openxmlformats.org/drawingml/2006/main">
              <a:ext uri="{FF2B5EF4-FFF2-40B4-BE49-F238E27FC236}">
                <a16:creationId xmlns:a16="http://schemas.microsoft.com/office/drawing/2014/main" id="{6DEA8797-B090-49F4-8C6E-888B8BBF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先实现可验收基线，再验证学习策略和板端部署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9FED-1A31-44EA-8134-BD2B1F7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473BE-0C89-4D1F-91BB-49306FEE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EB61A388-6E31-4B5B-8961-AA0C85F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CBEE8105-3B37-4B69-87FD-E544F52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跟随与避障">
            <a:extLst xmlns:a="http://schemas.openxmlformats.org/drawingml/2006/main">
              <a:ext uri="{FF2B5EF4-FFF2-40B4-BE49-F238E27FC236}">
                <a16:creationId xmlns:a16="http://schemas.microsoft.com/office/drawing/2014/main" id="{CC3567EA-0C42-45B9-8099-C1CE5F8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跟随与避障</a:t>
            </a:r>
          </a:p>
        </p:txBody>
      </p:sp>
      <p:sp>
        <p:nvSpPr>
          <p:cNvPr id="8" name="视觉识别人，雷达辅助测距">
            <a:extLst xmlns:a="http://schemas.openxmlformats.org/drawingml/2006/main">
              <a:ext uri="{FF2B5EF4-FFF2-40B4-BE49-F238E27FC236}">
                <a16:creationId xmlns:a16="http://schemas.microsoft.com/office/drawing/2014/main" id="{F06A1C8A-B056-4D55-AC99-5B46898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视觉识别人，雷达辅助测距</a:t>
            </a:r>
          </a:p>
        </p:txBody>
      </p:sp>
      <p:sp>
        <p:nvSpPr>
          <p:cNvPr id="9" name="时间同步、坐标标定，加入遮挡恢复与停车">
            <a:extLst xmlns:a="http://schemas.openxmlformats.org/drawingml/2006/main">
              <a:ext uri="{FF2B5EF4-FFF2-40B4-BE49-F238E27FC236}">
                <a16:creationId xmlns:a16="http://schemas.microsoft.com/office/drawing/2014/main" id="{20590622-DA1C-4D68-BA56-C608F8E6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时间同步、坐标标定，加入遮挡恢复与停车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9C789-5FF4-46D0-AF42-3818CC72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1" name="地面激光指引">
            <a:extLst xmlns:a="http://schemas.openxmlformats.org/drawingml/2006/main">
              <a:ext uri="{FF2B5EF4-FFF2-40B4-BE49-F238E27FC236}">
                <a16:creationId xmlns:a16="http://schemas.microsoft.com/office/drawing/2014/main" id="{50703A33-47F2-420E-AB4D-18E8CE2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地面激光指引</a:t>
            </a:r>
          </a:p>
        </p:txBody>
      </p:sp>
      <p:sp>
        <p:nvSpPr>
          <p:cNvPr id="12" name="光斑检测与地面平面约束">
            <a:extLst xmlns:a="http://schemas.openxmlformats.org/drawingml/2006/main">
              <a:ext uri="{FF2B5EF4-FFF2-40B4-BE49-F238E27FC236}">
                <a16:creationId xmlns:a16="http://schemas.microsoft.com/office/drawing/2014/main" id="{934DFA59-1152-4166-90AA-3D804F20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光斑检测与地面平面约束</a:t>
            </a:r>
          </a:p>
        </p:txBody>
      </p:sp>
      <p:sp>
        <p:nvSpPr>
          <p:cNvPr id="13" name="相机标定求目标坐标，检查地图通行性">
            <a:extLst xmlns:a="http://schemas.openxmlformats.org/drawingml/2006/main">
              <a:ext uri="{FF2B5EF4-FFF2-40B4-BE49-F238E27FC236}">
                <a16:creationId xmlns:a16="http://schemas.microsoft.com/office/drawing/2014/main" id="{E012D9F0-AD3F-465F-B703-E89F5AB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相机标定求目标坐标，检查地图通行性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45923-57AC-4DEB-8CD1-93732AB4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5" name="抓取与昇腾适配">
            <a:extLst xmlns:a="http://schemas.openxmlformats.org/drawingml/2006/main">
              <a:ext uri="{FF2B5EF4-FFF2-40B4-BE49-F238E27FC236}">
                <a16:creationId xmlns:a16="http://schemas.microsoft.com/office/drawing/2014/main" id="{F47BC572-DBDC-428C-A75E-C885B131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抓取与昇腾适配</a:t>
            </a:r>
          </a:p>
        </p:txBody>
      </p:sp>
      <p:sp>
        <p:nvSpPr>
          <p:cNvPr id="16" name="定位误差、策略泛化、算子与延迟">
            <a:extLst xmlns:a="http://schemas.openxmlformats.org/drawingml/2006/main">
              <a:ext uri="{FF2B5EF4-FFF2-40B4-BE49-F238E27FC236}">
                <a16:creationId xmlns:a16="http://schemas.microsoft.com/office/drawing/2014/main" id="{1ACF2C9B-A755-487A-AB39-216A4788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81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定位误差、策略泛化、算子与延迟</a:t>
            </a:r>
          </a:p>
        </p:txBody>
      </p:sp>
      <p:sp>
        <p:nvSpPr>
          <p:cNvPr id="17" name="固定作业平面，实测成功率及端侧推理耗时">
            <a:extLst xmlns:a="http://schemas.openxmlformats.org/drawingml/2006/main">
              <a:ext uri="{FF2B5EF4-FFF2-40B4-BE49-F238E27FC236}">
                <a16:creationId xmlns:a16="http://schemas.microsoft.com/office/drawing/2014/main" id="{5062D131-FD00-4F08-9D3C-7D484CD7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19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固定作业平面，实测成功率及端侧推理耗时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C98AD-9CE8-43D6-991F-0716962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9" name="抓取路线">
            <a:extLst xmlns:a="http://schemas.openxmlformats.org/drawingml/2006/main">
              <a:ext uri="{FF2B5EF4-FFF2-40B4-BE49-F238E27FC236}">
                <a16:creationId xmlns:a16="http://schemas.microsoft.com/office/drawing/2014/main" id="{F257A637-55D9-4DFF-905D-B04DE980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抓取路线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8BC56-2368-44B3-BFA1-70472675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57800"/>
            <a:ext cx="2800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视觉定位 + 预置动作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E5372-7FF0-40FB-8F3A-0B4CBD76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2800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CCDDEB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SmolVLA 微调与适配</a:t>
            </a:r>
          </a:p>
        </p:txBody>
      </p:sp>
      <p:sp>
        <p:nvSpPr>
          <p:cNvPr id="23" name="ACT 备选">
            <a:extLst xmlns:a="http://schemas.openxmlformats.org/drawingml/2006/main">
              <a:ext uri="{FF2B5EF4-FFF2-40B4-BE49-F238E27FC236}">
                <a16:creationId xmlns:a16="http://schemas.microsoft.com/office/drawing/2014/main" id="{3B1F26DF-E09E-45A1-B0C3-EB881320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8637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ACT 备选</a:t>
            </a:r>
          </a:p>
        </p:txBody>
      </p:sp>
      <p:sp>
        <p:nvSpPr>
          <p:cNvPr id="24" name="学习策略未达标时保留基线，端侧与外部计算结果分别记录">
            <a:extLst xmlns:a="http://schemas.openxmlformats.org/drawingml/2006/main">
              <a:ext uri="{FF2B5EF4-FFF2-40B4-BE49-F238E27FC236}">
                <a16:creationId xmlns:a16="http://schemas.microsoft.com/office/drawing/2014/main" id="{73446744-9649-45DE-9DC1-4AA6798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934075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学习策略未达标时保留基线，端侧与外部计算结果分别记录</a:t>
            </a:r>
          </a:p>
        </p:txBody>
      </p:sp>
    </p:spTree>
    <p:extLst>
      <p:ext uri="{BB962C8B-B14F-4D97-AF65-F5344CB8AC3E}">
        <p14:creationId xmlns:p14="http://schemas.microsoft.com/office/powerpoint/2010/main" val="1186981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已有基础与待验证内容">
            <a:extLst xmlns:a="http://schemas.openxmlformats.org/drawingml/2006/main">
              <a:ext uri="{FF2B5EF4-FFF2-40B4-BE49-F238E27FC236}">
                <a16:creationId xmlns:a16="http://schemas.microsoft.com/office/drawing/2014/main" id="{9E18888B-A74D-4E32-9287-22B34D02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已有基础与待验证内容</a:t>
            </a:r>
          </a:p>
        </p:txBody>
      </p:sp>
      <p:sp>
        <p:nvSpPr>
          <p:cNvPr id="2" name="已具备软件框架，后续重点转向板端与整机实测">
            <a:extLst xmlns:a="http://schemas.openxmlformats.org/drawingml/2006/main">
              <a:ext uri="{FF2B5EF4-FFF2-40B4-BE49-F238E27FC236}">
                <a16:creationId xmlns:a16="http://schemas.microsoft.com/office/drawing/2014/main" id="{971EDE01-65EB-40FE-8DBE-BA996B5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已具备软件框架，后续重点转向板端与整机实测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EA5EA-AB7D-404B-A2A8-F9D8AF97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899E9-923F-4F85-860C-AFD7181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4D59C0F6-F28D-47F6-A8FA-00C19F2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61902B64-D6A6-4831-99D4-AD718F3A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已有基础">
            <a:extLst xmlns:a="http://schemas.openxmlformats.org/drawingml/2006/main">
              <a:ext uri="{FF2B5EF4-FFF2-40B4-BE49-F238E27FC236}">
                <a16:creationId xmlns:a16="http://schemas.microsoft.com/office/drawing/2014/main" id="{02AFBF45-BF01-4D4B-9E33-9E72B044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8" name="待验证内容">
            <a:extLst xmlns:a="http://schemas.openxmlformats.org/drawingml/2006/main">
              <a:ext uri="{FF2B5EF4-FFF2-40B4-BE49-F238E27FC236}">
                <a16:creationId xmlns:a16="http://schemas.microsoft.com/office/drawing/2014/main" id="{690DBAAA-BF9D-4C9E-88CB-4B712A1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431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待验证内容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C2BD8-61CB-46C9-9B0C-B768793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0" name="整机方案、硬件选型与 ROS 2 接口">
            <a:extLst xmlns:a="http://schemas.openxmlformats.org/drawingml/2006/main">
              <a:ext uri="{FF2B5EF4-FFF2-40B4-BE49-F238E27FC236}">
                <a16:creationId xmlns:a16="http://schemas.microsoft.com/office/drawing/2014/main" id="{C6A3B377-B8D4-4A12-AFBF-F9F5A1D7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整机方案、硬件选型与 ROS 2 接口</a:t>
            </a:r>
          </a:p>
        </p:txBody>
      </p:sp>
      <p:sp>
        <p:nvSpPr>
          <p:cNvPr id="11" name="语音唤醒、流式 ASR、指令路由代码">
            <a:extLst xmlns:a="http://schemas.openxmlformats.org/drawingml/2006/main">
              <a:ext uri="{FF2B5EF4-FFF2-40B4-BE49-F238E27FC236}">
                <a16:creationId xmlns:a16="http://schemas.microsoft.com/office/drawing/2014/main" id="{4AE15EB5-7C2A-473A-B24E-9329E22C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语音唤醒、流式 ASR、指令路由代码</a:t>
            </a:r>
          </a:p>
        </p:txBody>
      </p:sp>
      <p:sp>
        <p:nvSpPr>
          <p:cNvPr id="12" name="规则优先，LLM 兜底与白名单校验">
            <a:extLst xmlns:a="http://schemas.openxmlformats.org/drawingml/2006/main">
              <a:ext uri="{FF2B5EF4-FFF2-40B4-BE49-F238E27FC236}">
                <a16:creationId xmlns:a16="http://schemas.microsoft.com/office/drawing/2014/main" id="{40097CF3-53F7-4AB7-B346-841118B1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规则优先，LLM 兜底与白名单校验</a:t>
            </a:r>
          </a:p>
        </p:txBody>
      </p:sp>
      <p:sp>
        <p:nvSpPr>
          <p:cNvPr id="13" name="语音模型文件、测试与评测工具">
            <a:extLst xmlns:a="http://schemas.openxmlformats.org/drawingml/2006/main">
              <a:ext uri="{FF2B5EF4-FFF2-40B4-BE49-F238E27FC236}">
                <a16:creationId xmlns:a16="http://schemas.microsoft.com/office/drawing/2014/main" id="{311D0AF5-2B19-4BDE-8828-534398FB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语音模型文件、测试与评测工具</a:t>
            </a:r>
          </a:p>
        </p:txBody>
      </p:sp>
      <p:sp>
        <p:nvSpPr>
          <p:cNvPr id="14" name="Atlas 环境、模型转换与推理延迟">
            <a:extLst xmlns:a="http://schemas.openxmlformats.org/drawingml/2006/main">
              <a:ext uri="{FF2B5EF4-FFF2-40B4-BE49-F238E27FC236}">
                <a16:creationId xmlns:a16="http://schemas.microsoft.com/office/drawing/2014/main" id="{CE98071D-E98D-4C88-B68B-B8B5561A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38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Atlas 环境、模型转换与推理延迟</a:t>
            </a:r>
          </a:p>
        </p:txBody>
      </p:sp>
      <p:sp>
        <p:nvSpPr>
          <p:cNvPr id="15" name="真实录音下的唤醒与指令识别率">
            <a:extLst xmlns:a="http://schemas.openxmlformats.org/drawingml/2006/main">
              <a:ext uri="{FF2B5EF4-FFF2-40B4-BE49-F238E27FC236}">
                <a16:creationId xmlns:a16="http://schemas.microsoft.com/office/drawing/2014/main" id="{23B796FA-8F63-4A0B-8F00-64F1EC8D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99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真实录音下的唤醒与指令识别率</a:t>
            </a:r>
          </a:p>
        </p:txBody>
      </p:sp>
      <p:sp>
        <p:nvSpPr>
          <p:cNvPr id="16" name="底盘标定、导航和跟随闭环">
            <a:extLst xmlns:a="http://schemas.openxmlformats.org/drawingml/2006/main">
              <a:ext uri="{FF2B5EF4-FFF2-40B4-BE49-F238E27FC236}">
                <a16:creationId xmlns:a16="http://schemas.microsoft.com/office/drawing/2014/main" id="{C02E7A0C-A548-48CB-908F-EAB78258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1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底盘标定、导航和跟随闭环</a:t>
            </a:r>
          </a:p>
        </p:txBody>
      </p:sp>
      <p:sp>
        <p:nvSpPr>
          <p:cNvPr id="17" name="抓取成功率与整机供电稳定性">
            <a:extLst xmlns:a="http://schemas.openxmlformats.org/drawingml/2006/main">
              <a:ext uri="{FF2B5EF4-FFF2-40B4-BE49-F238E27FC236}">
                <a16:creationId xmlns:a16="http://schemas.microsoft.com/office/drawing/2014/main" id="{A3D4E55A-C7EC-4951-86A5-4016F4A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抓取成功率与整机供电稳定性</a:t>
            </a:r>
          </a:p>
        </p:txBody>
      </p:sp>
      <p:sp>
        <p:nvSpPr>
          <p:cNvPr id="18" name="25 项通过">
            <a:extLst xmlns:a="http://schemas.openxmlformats.org/drawingml/2006/main">
              <a:ext uri="{FF2B5EF4-FFF2-40B4-BE49-F238E27FC236}">
                <a16:creationId xmlns:a16="http://schemas.microsoft.com/office/drawing/2014/main" id="{6153E532-A5D9-4AB3-AEB8-C28D537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25 项通过</a:t>
            </a:r>
          </a:p>
        </p:txBody>
      </p:sp>
      <p:sp>
        <p:nvSpPr>
          <p:cNvPr id="19" name="PC 端规则、路由与 LLM 解析相关测试">
            <a:extLst xmlns:a="http://schemas.openxmlformats.org/drawingml/2006/main">
              <a:ext uri="{FF2B5EF4-FFF2-40B4-BE49-F238E27FC236}">
                <a16:creationId xmlns:a16="http://schemas.microsoft.com/office/drawing/2014/main" id="{6AF60E08-A3BC-4097-AB5A-F227F4F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PC 端规则、路由与 LLM 解析相关测试</a:t>
            </a:r>
          </a:p>
        </p:txBody>
      </p:sp>
    </p:spTree>
    <p:extLst>
      <p:ext uri="{BB962C8B-B14F-4D97-AF65-F5344CB8AC3E}">
        <p14:creationId xmlns:p14="http://schemas.microsoft.com/office/powerpoint/2010/main" val="1015532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第 6—14 周进度安排">
            <a:extLst xmlns:a="http://schemas.openxmlformats.org/drawingml/2006/main">
              <a:ext uri="{FF2B5EF4-FFF2-40B4-BE49-F238E27FC236}">
                <a16:creationId xmlns:a16="http://schemas.microsoft.com/office/drawing/2014/main" id="{4CF96FE2-D60F-4231-84CB-41BF876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第 6—14 周进度安排</a:t>
            </a:r>
          </a:p>
        </p:txBody>
      </p:sp>
      <p:sp>
        <p:nvSpPr>
          <p:cNvPr id="2" name="每周保留可演示成果，第 13 周预留整机联调缓冲">
            <a:extLst xmlns:a="http://schemas.openxmlformats.org/drawingml/2006/main">
              <a:ext uri="{FF2B5EF4-FFF2-40B4-BE49-F238E27FC236}">
                <a16:creationId xmlns:a16="http://schemas.microsoft.com/office/drawing/2014/main" id="{65203B98-3F49-4EE5-9399-B01DC16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每周保留可演示成果，第 13 周预留整机联调缓冲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51CE9-6F8B-4046-9DA9-7B49C82C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1FC2C-1465-421C-ACC3-88A6F60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2D4014FE-3BDD-4707-BA63-1C69EF5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643690BC-466B-425E-B622-07A30E7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8EF20-76D2-4DBE-A8D3-EC87C144D4F8}"/>
              </a:ext>
            </a:extLst>
          </p:cNvPr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6381750"/>
                <a:gridCol w="3162300"/>
              </a:tblGrid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当周交付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T w="9525">
                      <a:solidFill>
                        <a:srgbClr val="CCDDEB"/>
                      </a:solidFill>
                      <a:prstDash val="solid"/>
                    </a:lnT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12365A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6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环境、模型样例、底盘通信与标定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推理样例 + 可控底盘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7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雷达接入、SLAM 建图、Nav2 定点导航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 + 导航演示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8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人体检测与雷达测距融合、跟随避障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自主跟随演示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9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地面光斑定位、地图坐标转换与目标导航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激光指引演示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10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语音链路部署、任务解析与调度联调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语音控制整机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11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机械臂标定、抓取基线、示教数据采集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基线抓取 + 数据集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12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SmolVLA / ACT 训练评估、板端适配实测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策略对比 + 路线确定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13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整机联调、故障与供电检查、指标预测试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完整任务闭环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433388"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2365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14 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DEB"/>
                      </a:solidFill>
                      <a:prstDash val="solid"/>
                    </a:lnL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统一条件验收、演示视频、报告和代码归档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33D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样机 + 测试记录 + 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DEB"/>
                      </a:solidFill>
                      <a:prstDash val="solid"/>
                    </a:lnR>
                    <a:lnB w="9525">
                      <a:solidFill>
                        <a:srgbClr val="CCDD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529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成员分工与协作接口">
            <a:extLst xmlns:a="http://schemas.openxmlformats.org/drawingml/2006/main">
              <a:ext uri="{FF2B5EF4-FFF2-40B4-BE49-F238E27FC236}">
                <a16:creationId xmlns:a16="http://schemas.microsoft.com/office/drawing/2014/main" id="{8FF7D0B2-3078-4A14-8B31-3F4D69AA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成员分工与协作接口</a:t>
            </a:r>
          </a:p>
        </p:txBody>
      </p:sp>
      <p:sp>
        <p:nvSpPr>
          <p:cNvPr id="2" name="两人按模块负责，机械结构与整机验收共同完成">
            <a:extLst xmlns:a="http://schemas.openxmlformats.org/drawingml/2006/main">
              <a:ext uri="{FF2B5EF4-FFF2-40B4-BE49-F238E27FC236}">
                <a16:creationId xmlns:a16="http://schemas.microsoft.com/office/drawing/2014/main" id="{B0C6FC26-50FA-46FA-9431-E61010B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两人按模块负责，机械结构与整机验收共同完成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A48F9-5D17-4AB3-917D-5DA0D8A9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389C8-9A4A-4D0E-815E-22A1821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D288B49F-B883-4C9D-AEC7-94761589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0A1C957C-C097-40F7-A5F4-8212894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成员 A">
            <a:extLst xmlns:a="http://schemas.openxmlformats.org/drawingml/2006/main">
              <a:ext uri="{FF2B5EF4-FFF2-40B4-BE49-F238E27FC236}">
                <a16:creationId xmlns:a16="http://schemas.microsoft.com/office/drawing/2014/main" id="{25D233AE-6F3C-4CDB-BDD5-B77A73EC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8" name="语音交互与抓取策略">
            <a:extLst xmlns:a="http://schemas.openxmlformats.org/drawingml/2006/main">
              <a:ext uri="{FF2B5EF4-FFF2-40B4-BE49-F238E27FC236}">
                <a16:creationId xmlns:a16="http://schemas.microsoft.com/office/drawing/2014/main" id="{943BAA81-F5B5-48F9-99B5-E317F5D5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语音交互与抓取策略</a:t>
            </a:r>
          </a:p>
        </p:txBody>
      </p:sp>
      <p:sp>
        <p:nvSpPr>
          <p:cNvPr id="9" name="M2：唤醒、ASR、解析与任务路由">
            <a:extLst xmlns:a="http://schemas.openxmlformats.org/drawingml/2006/main">
              <a:ext uri="{FF2B5EF4-FFF2-40B4-BE49-F238E27FC236}">
                <a16:creationId xmlns:a16="http://schemas.microsoft.com/office/drawing/2014/main" id="{E6FC9096-C68C-4A76-A997-CF757E39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M2：唤醒、ASR、解析与任务路由</a:t>
            </a:r>
          </a:p>
        </p:txBody>
      </p:sp>
      <p:sp>
        <p:nvSpPr>
          <p:cNvPr id="10" name="M3：示教采集、模型训练与机械臂控制">
            <a:extLst xmlns:a="http://schemas.openxmlformats.org/drawingml/2006/main">
              <a:ext uri="{FF2B5EF4-FFF2-40B4-BE49-F238E27FC236}">
                <a16:creationId xmlns:a16="http://schemas.microsoft.com/office/drawing/2014/main" id="{DE78405F-82B8-41DD-A6AE-2D947AF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M3：示教采集、模型训练与机械臂控制</a:t>
            </a:r>
          </a:p>
        </p:txBody>
      </p:sp>
      <p:sp>
        <p:nvSpPr>
          <p:cNvPr id="11" name="负责指令接口与抓取验收记录">
            <a:extLst xmlns:a="http://schemas.openxmlformats.org/drawingml/2006/main">
              <a:ext uri="{FF2B5EF4-FFF2-40B4-BE49-F238E27FC236}">
                <a16:creationId xmlns:a16="http://schemas.microsoft.com/office/drawing/2014/main" id="{0C4A463B-2427-4695-8612-B8A103B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负责指令接口与抓取验收记录</a:t>
            </a:r>
          </a:p>
        </p:txBody>
      </p:sp>
      <p:sp>
        <p:nvSpPr>
          <p:cNvPr id="12" name="成员 B">
            <a:extLst xmlns:a="http://schemas.openxmlformats.org/drawingml/2006/main">
              <a:ext uri="{FF2B5EF4-FFF2-40B4-BE49-F238E27FC236}">
                <a16:creationId xmlns:a16="http://schemas.microsoft.com/office/drawing/2014/main" id="{3017876A-7FD8-4D23-9DBE-B80FF912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</p:txBody>
      </p:sp>
      <p:sp>
        <p:nvSpPr>
          <p:cNvPr id="13" name="视觉感知与导航运动">
            <a:extLst xmlns:a="http://schemas.openxmlformats.org/drawingml/2006/main">
              <a:ext uri="{FF2B5EF4-FFF2-40B4-BE49-F238E27FC236}">
                <a16:creationId xmlns:a16="http://schemas.microsoft.com/office/drawing/2014/main" id="{18B541DD-009E-4BD5-B1D6-66841BA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视觉感知与导航运动</a:t>
            </a:r>
          </a:p>
        </p:txBody>
      </p:sp>
      <p:sp>
        <p:nvSpPr>
          <p:cNvPr id="14" name="M1：人体、光斑与物品检测">
            <a:extLst xmlns:a="http://schemas.openxmlformats.org/drawingml/2006/main">
              <a:ext uri="{FF2B5EF4-FFF2-40B4-BE49-F238E27FC236}">
                <a16:creationId xmlns:a16="http://schemas.microsoft.com/office/drawing/2014/main" id="{67182F1B-52BD-4424-9968-3F6A6C68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M1：人体、光斑与物品检测</a:t>
            </a:r>
          </a:p>
        </p:txBody>
      </p:sp>
      <p:sp>
        <p:nvSpPr>
          <p:cNvPr id="15" name="M4：底盘、SLAM、Nav2 与跟随">
            <a:extLst xmlns:a="http://schemas.openxmlformats.org/drawingml/2006/main">
              <a:ext uri="{FF2B5EF4-FFF2-40B4-BE49-F238E27FC236}">
                <a16:creationId xmlns:a16="http://schemas.microsoft.com/office/drawing/2014/main" id="{022188C8-291C-4BAD-9FF3-34788B5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M4：底盘、SLAM、Nav2 与跟随</a:t>
            </a:r>
          </a:p>
        </p:txBody>
      </p:sp>
      <p:sp>
        <p:nvSpPr>
          <p:cNvPr id="16" name="负责感知接口与移动验收记录">
            <a:extLst xmlns:a="http://schemas.openxmlformats.org/drawingml/2006/main">
              <a:ext uri="{FF2B5EF4-FFF2-40B4-BE49-F238E27FC236}">
                <a16:creationId xmlns:a16="http://schemas.microsoft.com/office/drawing/2014/main" id="{6885C86E-10BC-4ED0-B7C5-2FA0C448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负责感知接口与移动验收记录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D9597-CF6E-4B3B-98CC-E522822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8" name="共同完成：机械臂安装、供电与急停、接口冻结、整机联调与终验">
            <a:extLst xmlns:a="http://schemas.openxmlformats.org/drawingml/2006/main">
              <a:ext uri="{FF2B5EF4-FFF2-40B4-BE49-F238E27FC236}">
                <a16:creationId xmlns:a16="http://schemas.microsoft.com/office/drawing/2014/main" id="{FF64B45B-6858-43C4-AA11-99A4EDF6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共同完成：机械臂安装、供电与急停、接口冻结、整机联调与终验</a:t>
            </a:r>
          </a:p>
        </p:txBody>
      </p:sp>
    </p:spTree>
    <p:extLst>
      <p:ext uri="{BB962C8B-B14F-4D97-AF65-F5344CB8AC3E}">
        <p14:creationId xmlns:p14="http://schemas.microsoft.com/office/powerpoint/2010/main" val="1909725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预期成果">
            <a:extLst xmlns:a="http://schemas.openxmlformats.org/drawingml/2006/main">
              <a:ext uri="{FF2B5EF4-FFF2-40B4-BE49-F238E27FC236}">
                <a16:creationId xmlns:a16="http://schemas.microsoft.com/office/drawing/2014/main" id="{39E25ADB-5DFA-41E6-8A65-38B9D23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2" name="以可重复演示和可追溯测试记录完成课程验收">
            <a:extLst xmlns:a="http://schemas.openxmlformats.org/drawingml/2006/main">
              <a:ext uri="{FF2B5EF4-FFF2-40B4-BE49-F238E27FC236}">
                <a16:creationId xmlns:a16="http://schemas.microsoft.com/office/drawing/2014/main" id="{3CEA99DC-8261-4B7D-AD4A-79F988E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58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以可重复演示和可追溯测试记录完成课程验收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A6401-200E-4C4E-8B7C-4C532A87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BEC06-7670-495F-BCC3-40809F5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5" name="电子系统设计 · 开题报告">
            <a:extLst xmlns:a="http://schemas.openxmlformats.org/drawingml/2006/main">
              <a:ext uri="{FF2B5EF4-FFF2-40B4-BE49-F238E27FC236}">
                <a16:creationId xmlns:a16="http://schemas.microsoft.com/office/drawing/2014/main" id="{38D87636-349D-41C1-9E16-F86CC4D8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7084"/>
                </a:solidFill>
                <a:latin typeface="Microsoft YaHei"/>
                <a:ea typeface="Microsoft YaHei"/>
                <a:cs typeface="Microsoft YaHei"/>
              </a:rPr>
              <a:t>电子系统设计 · 开题报告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05F0F863-1A4D-4CC4-AA04-A927973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389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一台机器人样机">
            <a:extLst xmlns:a="http://schemas.openxmlformats.org/drawingml/2006/main">
              <a:ext uri="{FF2B5EF4-FFF2-40B4-BE49-F238E27FC236}">
                <a16:creationId xmlns:a16="http://schemas.microsoft.com/office/drawing/2014/main" id="{7649524D-F388-41C8-9201-21C7A51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一台机器人样机</a:t>
            </a:r>
          </a:p>
        </p:txBody>
      </p:sp>
      <p:sp>
        <p:nvSpPr>
          <p:cNvPr id="8" name="自主跟随、地面激光指引、语音驱动物品抓取">
            <a:extLst xmlns:a="http://schemas.openxmlformats.org/drawingml/2006/main">
              <a:ext uri="{FF2B5EF4-FFF2-40B4-BE49-F238E27FC236}">
                <a16:creationId xmlns:a16="http://schemas.microsoft.com/office/drawing/2014/main" id="{2F40C9C3-0136-4A6B-A1A9-67EF1C6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0915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4CE"/>
                </a:solidFill>
                <a:latin typeface="Microsoft YaHei"/>
                <a:ea typeface="Microsoft YaHei"/>
                <a:cs typeface="Microsoft YaHei"/>
              </a:rPr>
              <a:t>自主跟随、地面激光指引、语音驱动物品抓取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34F14-12A3-4D08-9AAE-DC20D538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B"/>
          </a:solidFill>
          <a:ln xmlns:a="http://schemas.openxmlformats.org/drawingml/2006/main" w="0">
            <a:noFill/>
          </a:ln>
        </p:spPr>
      </p:sp>
      <p:sp>
        <p:nvSpPr>
          <p:cNvPr id="10" name="交付内容">
            <a:extLst xmlns:a="http://schemas.openxmlformats.org/drawingml/2006/main">
              <a:ext uri="{FF2B5EF4-FFF2-40B4-BE49-F238E27FC236}">
                <a16:creationId xmlns:a16="http://schemas.microsoft.com/office/drawing/2014/main" id="{77D38DBA-40C3-475E-9CF3-F42BB9F0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交付内容</a:t>
            </a:r>
          </a:p>
        </p:txBody>
      </p:sp>
      <p:sp>
        <p:nvSpPr>
          <p:cNvPr id="11" name="ROS 2 软件与配置、演示视频、测试记录、设计报告">
            <a:extLst xmlns:a="http://schemas.openxmlformats.org/drawingml/2006/main">
              <a:ext uri="{FF2B5EF4-FFF2-40B4-BE49-F238E27FC236}">
                <a16:creationId xmlns:a16="http://schemas.microsoft.com/office/drawing/2014/main" id="{A24B40F4-83F1-4A61-B070-A454AB0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0055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ROS 2 软件与配置、演示视频、测试记录、设计报告</a:t>
            </a:r>
          </a:p>
        </p:txBody>
      </p:sp>
      <p:sp>
        <p:nvSpPr>
          <p:cNvPr id="12" name="验证重点">
            <a:extLst xmlns:a="http://schemas.openxmlformats.org/drawingml/2006/main">
              <a:ext uri="{FF2B5EF4-FFF2-40B4-BE49-F238E27FC236}">
                <a16:creationId xmlns:a16="http://schemas.microsoft.com/office/drawing/2014/main" id="{84452BB7-4D15-420E-888A-659938C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65A"/>
                </a:solidFill>
                <a:latin typeface="Microsoft YaHei"/>
                <a:ea typeface="Microsoft YaHei"/>
                <a:cs typeface="Microsoft YaHei"/>
              </a:rPr>
              <a:t>验证重点</a:t>
            </a:r>
          </a:p>
        </p:txBody>
      </p:sp>
      <p:sp>
        <p:nvSpPr>
          <p:cNvPr id="13" name="成功率、距离误差、定位误差与推理延迟">
            <a:extLst xmlns:a="http://schemas.openxmlformats.org/drawingml/2006/main">
              <a:ext uri="{FF2B5EF4-FFF2-40B4-BE49-F238E27FC236}">
                <a16:creationId xmlns:a16="http://schemas.microsoft.com/office/drawing/2014/main" id="{75EB222D-E135-450A-88B8-03935576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4350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D54"/>
                </a:solidFill>
                <a:latin typeface="Microsoft YaHei"/>
                <a:ea typeface="Microsoft YaHei"/>
                <a:cs typeface="Microsoft YaHei"/>
              </a:rPr>
              <a:t>成功率、距离误差、定位误差与推理延迟</a:t>
            </a:r>
          </a:p>
        </p:txBody>
      </p:sp>
    </p:spTree>
    <p:extLst>
      <p:ext uri="{BB962C8B-B14F-4D97-AF65-F5344CB8AC3E}">
        <p14:creationId xmlns:p14="http://schemas.microsoft.com/office/powerpoint/2010/main" val="1524814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2026-10-17T02:56:25.3860000Z</ns2:created>
  <ns2:modified xsi:type="dcterms:W3CDTF">2026-10-17T02:56:25.3860000Z</ns2:modified>
</ns0:coreProperties>
</file>